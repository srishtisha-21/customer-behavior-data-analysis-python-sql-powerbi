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Slab"/>
      <p:regular r:id="rId17"/>
    </p:embeddedFont>
    <p:embeddedFont>
      <p:font typeface="Roboto Slab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slideLayout" Target="../slideLayouts/slideLayout1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5E98F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5,000 purchases analyzed across demographics, categories, and behavior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715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3450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5,050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2793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858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Rows in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63450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17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2793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5858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63450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2793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Duplicates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5858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entries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139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47714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 (Age, Gender, Location)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details (Category, Amount, Season)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 (Discount, Frequency, Rating)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31139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347714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556 Purchase Amount values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370 Size values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601 Review Ratings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4432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Gender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99915"/>
            <a:ext cx="4722763" cy="1128713"/>
          </a:xfrm>
          <a:prstGeom prst="roundRect">
            <a:avLst>
              <a:gd name="adj" fmla="val 1884"/>
            </a:avLst>
          </a:prstGeom>
          <a:solidFill>
            <a:srgbClr val="D6E5EF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841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Male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4818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$390,965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7877" y="246005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3,018 customers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970386"/>
            <a:ext cx="4722763" cy="1128713"/>
          </a:xfrm>
          <a:prstGeom prst="roundRect">
            <a:avLst>
              <a:gd name="adj" fmla="val 1884"/>
            </a:avLst>
          </a:prstGeom>
          <a:solidFill>
            <a:srgbClr val="D6E5EF"/>
          </a:solidFill>
          <a:ln/>
        </p:spPr>
      </p:sp>
      <p:sp>
        <p:nvSpPr>
          <p:cNvPr id="9" name="Text 6"/>
          <p:cNvSpPr/>
          <p:nvPr/>
        </p:nvSpPr>
        <p:spPr>
          <a:xfrm>
            <a:off x="637877" y="3112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Female Customers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34186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$352,060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7877" y="373052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2,032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2446"/>
            <a:ext cx="43459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88951"/>
            <a:ext cx="190500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5357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Electronics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842221"/>
            <a:ext cx="19050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Phone: 171 units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4154091"/>
            <a:ext cx="19050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Headphones: 166 units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488951"/>
            <a:ext cx="1905074" cy="1905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35357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Clothing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842296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Shirt: 315 units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578298" y="4154165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Pants: 171 units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488951"/>
            <a:ext cx="1905074" cy="19050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35357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3842296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Shoes: 303 units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660553" y="4154165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Sandals: 160 units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488951"/>
            <a:ext cx="1905074" cy="19050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42807" y="35357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742807" y="3842296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Jewelry: 171 units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742807" y="4154165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Bag: 164 units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8862"/>
            <a:ext cx="40461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23776" y="2306836"/>
            <a:ext cx="17436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81%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58" y="1420788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7" y="3724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403093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4,098 customers with repeat purchases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0090" y="2306836"/>
            <a:ext cx="17436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16%</a:t>
            </a:r>
            <a:endParaRPr lang="en-US" sz="2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72" y="1420788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5952" y="3724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403093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805 customers making second purchases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76405" y="2306836"/>
            <a:ext cx="17436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2%</a:t>
            </a:r>
            <a:endParaRPr lang="en-US" sz="2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86" y="1420788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6" y="3724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403093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 first-time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3290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3759" y="1627659"/>
            <a:ext cx="3274591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Performance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903759" y="199176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03759" y="2277442"/>
            <a:ext cx="7336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spend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$270 avg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 non-subscribers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$166 avg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3759" y="2515939"/>
            <a:ext cx="7336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Untapped potential for retention and recurring revenue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58963" y="3445520"/>
            <a:ext cx="130775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31.58%</a:t>
            </a:r>
            <a:endParaRPr lang="en-US" sz="2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492" y="2781002"/>
            <a:ext cx="1594842" cy="1594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48396" y="448210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03759" y="4695974"/>
            <a:ext cx="36183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1,579 customers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776987" y="3445520"/>
            <a:ext cx="130775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68.42%</a:t>
            </a:r>
            <a:endParaRPr lang="en-US" sz="2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517" y="2781002"/>
            <a:ext cx="1594842" cy="1594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66420" y="448210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Non-Subscribers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621783" y="4695974"/>
            <a:ext cx="36183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3,421 customers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824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 Group Analysis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05595"/>
            <a:ext cx="3556397" cy="177180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05595"/>
            <a:ext cx="1209154" cy="177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58779" y="1905595"/>
            <a:ext cx="3245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34%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Senior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5663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revenue: $260,598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0553" y="1905595"/>
            <a:ext cx="3561308" cy="177180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1905595"/>
            <a:ext cx="1139577" cy="177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8124" y="1905595"/>
            <a:ext cx="31975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32%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60553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Young Adult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60553" y="25663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volume: 1,548 purchases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147566"/>
            <a:ext cx="3559076" cy="177180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147566"/>
            <a:ext cx="782985" cy="177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61458" y="3147566"/>
            <a:ext cx="32191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22%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96119" y="35018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Middle-aged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96119" y="380836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$246,846 revenue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0553" y="3147566"/>
            <a:ext cx="3584004" cy="177180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3147566"/>
            <a:ext cx="430039" cy="1771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50821" y="3147566"/>
            <a:ext cx="29706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12%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660553" y="35018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Adult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660553" y="380836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$229,950 revenue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72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565574"/>
            <a:ext cx="38984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Shipping &amp; Satisfaction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3221162"/>
            <a:ext cx="8151763" cy="1128713"/>
          </a:xfrm>
          <a:prstGeom prst="roundRect">
            <a:avLst>
              <a:gd name="adj" fmla="val 1884"/>
            </a:avLst>
          </a:prstGeom>
          <a:solidFill>
            <a:srgbClr val="3F4652"/>
          </a:solidFill>
          <a:ln/>
        </p:spPr>
      </p:sp>
      <p:sp>
        <p:nvSpPr>
          <p:cNvPr id="5" name="Shape 2"/>
          <p:cNvSpPr/>
          <p:nvPr/>
        </p:nvSpPr>
        <p:spPr>
          <a:xfrm>
            <a:off x="496119" y="3221162"/>
            <a:ext cx="2717229" cy="1128713"/>
          </a:xfrm>
          <a:prstGeom prst="roundRect">
            <a:avLst>
              <a:gd name="adj" fmla="val 1884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33629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669432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$358 avg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purchase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7877" y="3981301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spending 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13348" y="3221162"/>
            <a:ext cx="2717229" cy="1128713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0" name="Shape 7"/>
          <p:cNvSpPr/>
          <p:nvPr/>
        </p:nvSpPr>
        <p:spPr>
          <a:xfrm>
            <a:off x="3213348" y="3221162"/>
            <a:ext cx="19050" cy="1128713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1" name="Text 8"/>
          <p:cNvSpPr/>
          <p:nvPr/>
        </p:nvSpPr>
        <p:spPr>
          <a:xfrm>
            <a:off x="3355107" y="33629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Standard Shipping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355107" y="3669432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$341 avg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purchase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55107" y="3981301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common option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30578" y="3221162"/>
            <a:ext cx="2717229" cy="1128713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5" name="Shape 12"/>
          <p:cNvSpPr/>
          <p:nvPr/>
        </p:nvSpPr>
        <p:spPr>
          <a:xfrm>
            <a:off x="5930578" y="3221162"/>
            <a:ext cx="19050" cy="1128713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6" name="Text 13"/>
          <p:cNvSpPr/>
          <p:nvPr/>
        </p:nvSpPr>
        <p:spPr>
          <a:xfrm>
            <a:off x="6072336" y="33629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Rating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72336" y="3669432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3.62/5 stars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72336" y="3981301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satisfaction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3049"/>
            <a:ext cx="37284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Business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95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91457"/>
            <a:ext cx="2622724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00039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Electronics = Premium Revenue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28367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revenue at ~$500K despite lower volume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60601" y="16695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01" y="1905595"/>
            <a:ext cx="2622724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0601" y="2000399"/>
            <a:ext cx="20175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Clothing = Traffic Driver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60601" y="230691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sales volume at ~1,900 units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025083" y="16695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83" y="1905595"/>
            <a:ext cx="2622724" cy="19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5083" y="2000399"/>
            <a:ext cx="22005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Outerwear Underperforms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25083" y="230691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revenue and sales—needs reassessment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6119" y="32300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437706"/>
            <a:ext cx="4004965" cy="190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6119" y="35608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Seniors = High Value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6119" y="386737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most revenue per transaction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42842" y="32300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842" y="3437706"/>
            <a:ext cx="4004965" cy="190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42842" y="3560862"/>
            <a:ext cx="26792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Young Adults = Frequent Buyers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642842" y="386737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purchase frequency—upsell opportunity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0713"/>
            <a:ext cx="421734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Recommendations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41871" y="970136"/>
            <a:ext cx="4073872" cy="1199257"/>
          </a:xfrm>
          <a:prstGeom prst="roundRect">
            <a:avLst>
              <a:gd name="adj" fmla="val 1579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77" y="1096342"/>
            <a:ext cx="378768" cy="37876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257" y="1200448"/>
            <a:ext cx="170408" cy="1704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8077" y="1587550"/>
            <a:ext cx="169269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Increase Subscriptions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8077" y="1852240"/>
            <a:ext cx="382146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First-month discounts, loyalty rewards, exclusive deals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628183" y="970136"/>
            <a:ext cx="4073947" cy="1199257"/>
          </a:xfrm>
          <a:prstGeom prst="roundRect">
            <a:avLst>
              <a:gd name="adj" fmla="val 1579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389" y="1096342"/>
            <a:ext cx="378768" cy="37876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8569" y="1200448"/>
            <a:ext cx="170408" cy="170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389" y="158755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 Electronics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754389" y="1852240"/>
            <a:ext cx="382153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variety, bundle accessories, promote premium products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41871" y="2281833"/>
            <a:ext cx="4073872" cy="1199257"/>
          </a:xfrm>
          <a:prstGeom prst="roundRect">
            <a:avLst>
              <a:gd name="adj" fmla="val 1579"/>
            </a:avLst>
          </a:prstGeom>
          <a:solidFill>
            <a:srgbClr val="3F4652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077" y="2408039"/>
            <a:ext cx="378768" cy="37876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257" y="2512144"/>
            <a:ext cx="170408" cy="1704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68077" y="289924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Boost Clothing Value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568077" y="3163937"/>
            <a:ext cx="382146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Cross-sell accessories, premium collections, bundle discounts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4628183" y="2281833"/>
            <a:ext cx="4073947" cy="1199257"/>
          </a:xfrm>
          <a:prstGeom prst="roundRect">
            <a:avLst>
              <a:gd name="adj" fmla="val 1579"/>
            </a:avLst>
          </a:prstGeom>
          <a:solidFill>
            <a:srgbClr val="3F4652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389" y="2408039"/>
            <a:ext cx="378768" cy="378768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8569" y="2512144"/>
            <a:ext cx="170408" cy="17040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54389" y="289924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 Seniors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4754389" y="3163937"/>
            <a:ext cx="382153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recommendations, VIP programs, priority support</a:t>
            </a:r>
            <a:endParaRPr lang="en-US" sz="950" dirty="0"/>
          </a:p>
        </p:txBody>
      </p:sp>
      <p:sp>
        <p:nvSpPr>
          <p:cNvPr id="23" name="Shape 13"/>
          <p:cNvSpPr/>
          <p:nvPr/>
        </p:nvSpPr>
        <p:spPr>
          <a:xfrm>
            <a:off x="441871" y="3593529"/>
            <a:ext cx="4073872" cy="1199257"/>
          </a:xfrm>
          <a:prstGeom prst="roundRect">
            <a:avLst>
              <a:gd name="adj" fmla="val 1579"/>
            </a:avLst>
          </a:prstGeom>
          <a:solidFill>
            <a:srgbClr val="3F4652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077" y="3719736"/>
            <a:ext cx="378768" cy="378768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2257" y="3823841"/>
            <a:ext cx="170408" cy="17040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68077" y="421094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Upsell Young Adults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568077" y="4475634"/>
            <a:ext cx="382146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Bundle offers, premium suggestions, app promotions</a:t>
            </a:r>
            <a:endParaRPr lang="en-US" sz="950" dirty="0"/>
          </a:p>
        </p:txBody>
      </p:sp>
      <p:sp>
        <p:nvSpPr>
          <p:cNvPr id="28" name="Shape 16"/>
          <p:cNvSpPr/>
          <p:nvPr/>
        </p:nvSpPr>
        <p:spPr>
          <a:xfrm>
            <a:off x="4628183" y="3593529"/>
            <a:ext cx="4073947" cy="1199257"/>
          </a:xfrm>
          <a:prstGeom prst="roundRect">
            <a:avLst>
              <a:gd name="adj" fmla="val 1579"/>
            </a:avLst>
          </a:prstGeom>
          <a:solidFill>
            <a:srgbClr val="3F4652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389" y="3719736"/>
            <a:ext cx="378768" cy="378768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58569" y="3823841"/>
            <a:ext cx="170408" cy="17040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754389" y="421094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 Satisfaction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4754389" y="4475634"/>
            <a:ext cx="382153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ratings, enhance service, faster issue resolution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2026-05-11T16:42:14Z</dcterms:created>
  <dcterms:modified xsi:type="dcterms:W3CDTF">2026-05-11T16:42:14Z</dcterms:modified>
</cp:coreProperties>
</file>